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72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E9AE8-062C-43CB-8D65-5BF4DA04540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6C63F-47CB-4F1D-B656-621C87A2D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9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6C63F-47CB-4F1D-B656-621C87A2DC5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63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6C63F-47CB-4F1D-B656-621C87A2DC5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53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6C63F-47CB-4F1D-B656-621C87A2DC5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08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gency FB" panose="020B05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27238" y="302942"/>
            <a:ext cx="3502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57200"/>
                </a:solidFill>
                <a:latin typeface="Trebuchet MS"/>
              </a:defRPr>
            </a:pPr>
            <a:r>
              <a:rPr sz="2800" dirty="0">
                <a:latin typeface="Agency FB" panose="020B0503020202020204" pitchFamily="34" charset="0"/>
              </a:rPr>
              <a:t>GRIDLOCK 2.0</a:t>
            </a:r>
            <a:r>
              <a:rPr lang="en-IN" sz="2800" dirty="0">
                <a:latin typeface="Agency FB" panose="020B0503020202020204" pitchFamily="34" charset="0"/>
              </a:rPr>
              <a:t> Hackathon</a:t>
            </a:r>
            <a:endParaRPr sz="2800" dirty="0">
              <a:latin typeface="Agency FB" panose="020B05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69264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41789" y="3077433"/>
            <a:ext cx="2531963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Harish Rohith S (Team Lead)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Karthikeyan T (Member 1)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Ram Prasath V (Member 2)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Nandhakishore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 A (Member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4937297"/>
            <a:ext cx="11274552" cy="1746966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2874F0"/>
                </a:solidFill>
                <a:latin typeface="Trebuchet MS"/>
              </a:defRPr>
            </a:pPr>
            <a:r>
              <a:rPr lang="en-IN" dirty="0">
                <a:latin typeface="Agency FB" panose="020B0503020202020204" pitchFamily="34" charset="0"/>
              </a:rPr>
              <a:t>About this Model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sz="2000" dirty="0">
                <a:latin typeface="Agency FB" panose="020B0503020202020204" pitchFamily="34" charset="0"/>
              </a:rPr>
              <a:t>In this model, Team </a:t>
            </a:r>
            <a:r>
              <a:rPr lang="en-IN" sz="2000" dirty="0">
                <a:latin typeface="Agency FB" panose="020B0503020202020204" pitchFamily="34" charset="0"/>
              </a:rPr>
              <a:t>Monarchs </a:t>
            </a:r>
            <a:r>
              <a:rPr sz="2000" dirty="0">
                <a:latin typeface="Agency FB" panose="020B0503020202020204" pitchFamily="34" charset="0"/>
              </a:rPr>
              <a:t>creatively designs </a:t>
            </a:r>
            <a:r>
              <a:rPr sz="2000" dirty="0" err="1">
                <a:latin typeface="Agency FB" panose="020B0503020202020204" pitchFamily="34" charset="0"/>
              </a:rPr>
              <a:t>GridLockNet</a:t>
            </a:r>
            <a:r>
              <a:rPr sz="2000" dirty="0">
                <a:latin typeface="Agency FB" panose="020B0503020202020204" pitchFamily="34" charset="0"/>
              </a:rPr>
              <a:t> as a custom multi-branch deep spatial-temporal tabular </a:t>
            </a:r>
            <a:r>
              <a:rPr sz="2000" dirty="0" err="1">
                <a:latin typeface="Agency FB" panose="020B0503020202020204" pitchFamily="34" charset="0"/>
              </a:rPr>
              <a:t>ResNet</a:t>
            </a:r>
            <a:r>
              <a:rPr sz="2000" dirty="0">
                <a:latin typeface="Agency FB" panose="020B0503020202020204" pitchFamily="34" charset="0"/>
              </a:rPr>
              <a:t> in </a:t>
            </a:r>
            <a:r>
              <a:rPr sz="2000" dirty="0" err="1">
                <a:latin typeface="Agency FB" panose="020B0503020202020204" pitchFamily="34" charset="0"/>
              </a:rPr>
              <a:t>PyTorch</a:t>
            </a:r>
            <a:r>
              <a:rPr sz="2000" dirty="0">
                <a:latin typeface="Agency FB" panose="020B0503020202020204" pitchFamily="34" charset="0"/>
              </a:rPr>
              <a:t>. Fusing learned nested geohash embeddings, cyclic continuous time projectors, and dynamic Gated Linear Unit lag selection blocks, it predicts traffic demand chronologically via a dampened recursive loop to control exposure bias. It is leakage-free, robustly regularized, and guarantees bounded output in [0.0, 1.0].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9DCA10-78CF-698A-3316-37D74F92A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56" y="-1900045"/>
            <a:ext cx="598175" cy="15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6D5C8-9586-4922-B593-23BC8CBC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45" b="13025"/>
          <a:stretch>
            <a:fillRect/>
          </a:stretch>
        </p:blipFill>
        <p:spPr>
          <a:xfrm>
            <a:off x="434119" y="2967880"/>
            <a:ext cx="1837945" cy="1468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A0C7A5-A6AB-4E9C-FE79-DFDFC7CB7B31}"/>
              </a:ext>
            </a:extLst>
          </p:cNvPr>
          <p:cNvSpPr txBox="1"/>
          <p:nvPr/>
        </p:nvSpPr>
        <p:spPr>
          <a:xfrm>
            <a:off x="5767578" y="1236994"/>
            <a:ext cx="6021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Problem Statement : Traffic Demand Prediction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6958D1-219D-1552-7746-DCE4080E0DD2}"/>
              </a:ext>
            </a:extLst>
          </p:cNvPr>
          <p:cNvSpPr txBox="1"/>
          <p:nvPr/>
        </p:nvSpPr>
        <p:spPr>
          <a:xfrm>
            <a:off x="310507" y="1325880"/>
            <a:ext cx="528104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i="0" dirty="0" err="1">
                <a:solidFill>
                  <a:srgbClr val="002060"/>
                </a:solidFill>
                <a:effectLst/>
                <a:latin typeface="Montserrat" pitchFamily="2" charset="0"/>
              </a:rPr>
              <a:t>NeuralRoute</a:t>
            </a:r>
            <a:endParaRPr lang="en-US" sz="4000" b="1" i="0" dirty="0">
              <a:solidFill>
                <a:srgbClr val="002060"/>
              </a:solidFill>
              <a:effectLst/>
              <a:latin typeface="Montserrat" pitchFamily="2" charset="0"/>
            </a:endParaRPr>
          </a:p>
          <a:p>
            <a:pPr algn="ctr">
              <a:buNone/>
            </a:pPr>
            <a:r>
              <a:rPr lang="en-US" b="1" i="0" dirty="0" err="1">
                <a:solidFill>
                  <a:srgbClr val="F57200"/>
                </a:solidFill>
                <a:effectLst/>
                <a:latin typeface="Montserrat" pitchFamily="2" charset="0"/>
              </a:rPr>
              <a:t>GridLockNet</a:t>
            </a:r>
            <a:r>
              <a:rPr lang="en-US" b="1" i="0" dirty="0">
                <a:solidFill>
                  <a:srgbClr val="F57200"/>
                </a:solidFill>
                <a:effectLst/>
                <a:latin typeface="Montserrat" pitchFamily="2" charset="0"/>
              </a:rPr>
              <a:t> Traffic Demand Forecasting Engine</a:t>
            </a:r>
            <a:endParaRPr lang="en-US" b="0" i="0" dirty="0">
              <a:solidFill>
                <a:srgbClr val="F57200"/>
              </a:solidFill>
              <a:effectLst/>
              <a:latin typeface="Montserrat" pitchFamily="2" charset="0"/>
            </a:endParaRPr>
          </a:p>
          <a:p>
            <a:pPr>
              <a:buNone/>
            </a:pPr>
            <a:br>
              <a:rPr lang="en-US" sz="2000" dirty="0">
                <a:latin typeface="Montserrat" pitchFamily="2" charset="0"/>
              </a:rPr>
            </a:br>
            <a:endParaRPr lang="en-IN" sz="2000" dirty="0">
              <a:latin typeface="Montserrat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EACB81-B976-1188-3E5B-B3F0574FA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72" y="1865370"/>
            <a:ext cx="5202936" cy="286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ipkart">
            <a:extLst>
              <a:ext uri="{FF2B5EF4-FFF2-40B4-BE49-F238E27FC236}">
                <a16:creationId xmlns:a16="http://schemas.microsoft.com/office/drawing/2014/main" id="{F6E77965-4C9B-90B4-598B-AF3BD4808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827" y="316100"/>
            <a:ext cx="1898171" cy="49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137160"/>
            <a:ext cx="39319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2000" dirty="0" err="1">
                <a:latin typeface="Agency FB" panose="020B0503020202020204" pitchFamily="34" charset="0"/>
              </a:rPr>
              <a:t>GridLock</a:t>
            </a:r>
            <a:r>
              <a:rPr sz="2000" dirty="0">
                <a:latin typeface="Agency FB" panose="020B0503020202020204" pitchFamily="34" charset="0"/>
              </a:rPr>
              <a:t> 2.0 Traffic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7809" y="91440"/>
            <a:ext cx="223651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57200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FLIPKART GRIDLOCK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78408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PROPOSED SOLUTION &amp; INNOVATION  |  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3949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PROPOSED SOLUTION &amp; INNOVATION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50008"/>
            <a:ext cx="2560320" cy="1280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1. Multi-Branch </a:t>
            </a:r>
            <a:r>
              <a:rPr sz="1600" dirty="0" err="1">
                <a:latin typeface="Agency FB" panose="020B0503020202020204" pitchFamily="34" charset="0"/>
              </a:rPr>
              <a:t>ResNet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Fuses spatial geohashes, cyclic intervals, and dynamic lag rollouts in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50008"/>
            <a:ext cx="2560320" cy="128016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  <a:latin typeface="Agency FB" panose="020B0503020202020204" pitchFamily="34" charset="0"/>
              </a:rPr>
              <a:t>2. Nested Spatial Embeddings</a:t>
            </a:r>
            <a:br>
              <a:rPr sz="16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sz="1600" dirty="0">
                <a:solidFill>
                  <a:schemeClr val="bg1"/>
                </a:solidFill>
                <a:latin typeface="Agency FB" panose="020B0503020202020204" pitchFamily="34" charset="0"/>
              </a:rPr>
              <a:t>Learns geohash weights at lengths 3, 4, 5 to map neighborhood hierarchies.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813048"/>
            <a:ext cx="2560320" cy="12801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3. 0.9 Dampened Lags</a:t>
            </a:r>
            <a:br>
              <a:rPr sz="1600">
                <a:latin typeface="Agency FB" panose="020B0503020202020204" pitchFamily="34" charset="0"/>
              </a:rPr>
            </a:br>
            <a:r>
              <a:rPr sz="1600">
                <a:latin typeface="Agency FB" panose="020B0503020202020204" pitchFamily="34" charset="0"/>
              </a:rPr>
              <a:t>Controls recursive rollout error propagation and exposure bias.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13048"/>
            <a:ext cx="2560320" cy="1280160"/>
          </a:xfrm>
          <a:prstGeom prst="roundRect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4. Inductive Clean Preprocessing</a:t>
            </a:r>
            <a:br>
              <a:rPr sz="1600">
                <a:latin typeface="Agency FB" panose="020B0503020202020204" pitchFamily="34" charset="0"/>
              </a:rPr>
            </a:br>
            <a:r>
              <a:rPr sz="1600">
                <a:latin typeface="Agency FB" panose="020B0503020202020204" pitchFamily="34" charset="0"/>
              </a:rPr>
              <a:t>Weather statistics computed strictly on Train set, avoiding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76088"/>
            <a:ext cx="5394960" cy="914400"/>
          </a:xfrm>
          <a:prstGeom prst="roundRect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5. Multi-Stage Sigmoid Bounding Output</a:t>
            </a:r>
            <a:br>
              <a:rPr sz="1600">
                <a:latin typeface="Agency FB" panose="020B0503020202020204" pitchFamily="34" charset="0"/>
              </a:rPr>
            </a:br>
            <a:r>
              <a:rPr sz="1600">
                <a:latin typeface="Agency FB" panose="020B0503020202020204" pitchFamily="34" charset="0"/>
              </a:rPr>
              <a:t>Custom scaled Sigmoid layer restricts traffic forecasts strictly in valid [0.0, 1.0] interval, taming out-of-bounds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18288" cy="4297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54864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METHODOLOGY GRIDS &amp; SECTIONS</a:t>
            </a:r>
          </a:p>
        </p:txBody>
      </p:sp>
      <p:sp>
        <p:nvSpPr>
          <p:cNvPr id="17" name="Trapezoid 16"/>
          <p:cNvSpPr/>
          <p:nvPr/>
        </p:nvSpPr>
        <p:spPr>
          <a:xfrm>
            <a:off x="6217920" y="2377440"/>
            <a:ext cx="1463040" cy="640080"/>
          </a:xfrm>
          <a:prstGeom prst="trapezoid">
            <a:avLst/>
          </a:prstGeom>
          <a:solidFill>
            <a:srgbClr val="287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Level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377440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Autoregressive Dampened forecasting rollout (0.9 Optimum)</a:t>
            </a:r>
          </a:p>
        </p:txBody>
      </p:sp>
      <p:sp>
        <p:nvSpPr>
          <p:cNvPr id="19" name="Trapezoid 18"/>
          <p:cNvSpPr/>
          <p:nvPr/>
        </p:nvSpPr>
        <p:spPr>
          <a:xfrm>
            <a:off x="6217920" y="3108960"/>
            <a:ext cx="1463040" cy="640080"/>
          </a:xfrm>
          <a:prstGeom prst="trapezoid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Level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08960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PyTorch deepcopy checkpoint lock (locking Epoch 8)</a:t>
            </a:r>
          </a:p>
        </p:txBody>
      </p:sp>
      <p:sp>
        <p:nvSpPr>
          <p:cNvPr id="21" name="Trapezoid 20"/>
          <p:cNvSpPr/>
          <p:nvPr/>
        </p:nvSpPr>
        <p:spPr>
          <a:xfrm>
            <a:off x="6217920" y="3840480"/>
            <a:ext cx="1463040" cy="640080"/>
          </a:xfrm>
          <a:prstGeom prst="trapezoid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Level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40480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Nested geohash grouping and spatial shift coordinate reverse engineering</a:t>
            </a:r>
          </a:p>
        </p:txBody>
      </p:sp>
      <p:sp>
        <p:nvSpPr>
          <p:cNvPr id="23" name="Trapezoid 22"/>
          <p:cNvSpPr/>
          <p:nvPr/>
        </p:nvSpPr>
        <p:spPr>
          <a:xfrm>
            <a:off x="6217920" y="4572000"/>
            <a:ext cx="1463040" cy="640080"/>
          </a:xfrm>
          <a:prstGeom prst="trapezoid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  <a:latin typeface="Agency FB" panose="020B0503020202020204" pitchFamily="34" charset="0"/>
              </a:rPr>
              <a:t>Level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572000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Deterministic road metadata capacities imputation (Lanes -&gt; RoadType)</a:t>
            </a:r>
          </a:p>
        </p:txBody>
      </p:sp>
      <p:sp>
        <p:nvSpPr>
          <p:cNvPr id="25" name="Trapezoid 24"/>
          <p:cNvSpPr/>
          <p:nvPr/>
        </p:nvSpPr>
        <p:spPr>
          <a:xfrm>
            <a:off x="6217920" y="5303520"/>
            <a:ext cx="1463040" cy="640080"/>
          </a:xfrm>
          <a:prstGeom prst="trapezoid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Level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303520"/>
            <a:ext cx="3931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3D Grid reconstruction (reconstructing missing traffic blocks to 0.0)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CBB022-E0B7-A4D1-774E-3A6330337860}"/>
              </a:ext>
            </a:extLst>
          </p:cNvPr>
          <p:cNvSpPr/>
          <p:nvPr/>
        </p:nvSpPr>
        <p:spPr>
          <a:xfrm>
            <a:off x="201626" y="146536"/>
            <a:ext cx="1237183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rPr lang="en-IN" dirty="0">
                <a:solidFill>
                  <a:srgbClr val="C00000"/>
                </a:solidFill>
                <a:latin typeface="Montserrat" pitchFamily="2" charset="0"/>
                <a:ea typeface="Abode" pitchFamily="2" charset="0"/>
              </a:rPr>
              <a:t>M</a:t>
            </a:r>
            <a:r>
              <a:rPr lang="en-IN" dirty="0">
                <a:solidFill>
                  <a:srgbClr val="C00000"/>
                </a:solidFill>
                <a:latin typeface="Abode" pitchFamily="2" charset="0"/>
                <a:ea typeface="Abode" pitchFamily="2" charset="0"/>
              </a:rPr>
              <a:t>onarchs</a:t>
            </a:r>
            <a:endParaRPr dirty="0">
              <a:solidFill>
                <a:srgbClr val="C00000"/>
              </a:solidFill>
              <a:latin typeface="Abode" pitchFamily="2" charset="0"/>
              <a:ea typeface="Abode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137160"/>
            <a:ext cx="39319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GridLock 2.0 Traffic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9782" y="91440"/>
            <a:ext cx="18245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57200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FLIPKART GRIDLOCK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455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CODE PROCESS OF IMPLEMENTATION  |  CONFIGURATIONS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74552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CODE PROCESS OF IMPLEMENTATION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Raw Traffic Logs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37360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74519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3D Grid Reconst.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79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Capacity Fills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72000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0916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>
                <a:latin typeface="Agency FB" panose="020B0503020202020204" pitchFamily="34" charset="0"/>
              </a:rPr>
              <a:t>Cyclic Time Fusing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2648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Nested Geohashes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06640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4380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 dirty="0" err="1">
                <a:latin typeface="Agency FB" panose="020B0503020202020204" pitchFamily="34" charset="0"/>
              </a:rPr>
              <a:t>MinMax</a:t>
            </a:r>
            <a:r>
              <a:rPr sz="1600" dirty="0">
                <a:latin typeface="Agency FB" panose="020B0503020202020204" pitchFamily="34" charset="0"/>
              </a:rPr>
              <a:t> Scaling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23960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6112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 dirty="0" err="1">
                <a:latin typeface="Agency FB" panose="020B0503020202020204" pitchFamily="34" charset="0"/>
              </a:rPr>
              <a:t>GridLockNet</a:t>
            </a:r>
            <a:r>
              <a:rPr sz="1600" dirty="0">
                <a:latin typeface="Agency FB" panose="020B0503020202020204" pitchFamily="34" charset="0"/>
              </a:rPr>
              <a:t> </a:t>
            </a:r>
            <a:r>
              <a:rPr sz="1600" dirty="0" err="1">
                <a:latin typeface="Agency FB" panose="020B0503020202020204" pitchFamily="34" charset="0"/>
              </a:rPr>
              <a:t>ResNet</a:t>
            </a:r>
            <a:endParaRPr sz="1600" dirty="0">
              <a:latin typeface="Agency FB" panose="020B0503020202020204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10241280" y="2011680"/>
            <a:ext cx="137160" cy="182880"/>
          </a:xfrm>
          <a:prstGeom prst="rightArrow">
            <a:avLst/>
          </a:prstGeom>
          <a:solidFill>
            <a:srgbClr val="F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gency FB" panose="020B0503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378440" y="1737360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Sigmoid Bounding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7705" y="2560320"/>
            <a:ext cx="91935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7200"/>
                </a:solidFill>
                <a:latin typeface="Consolas"/>
              </a:defRPr>
            </a:pPr>
            <a:r>
              <a:rPr sz="1600" dirty="0">
                <a:latin typeface="Agency FB" panose="020B0503020202020204" pitchFamily="34" charset="0"/>
              </a:rPr>
              <a:t>🔄 Dynamic Autoregressive Feedback Loop: Predicted demand t is dynamically fed back into grid to update lags for step t + 15m.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274552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Trebuchet MS"/>
              </a:defRPr>
            </a:pPr>
            <a:r>
              <a:rPr sz="1600">
                <a:latin typeface="Agency FB" panose="020B0503020202020204" pitchFamily="34" charset="0"/>
              </a:rPr>
              <a:t>TECHNOLOGIES &amp; CONFIGURATIONS FOR DEEP TRAFFIC FORECASTING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347472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2874F0"/>
                </a:solidFill>
                <a:latin typeface="Trebuchet MS"/>
              </a:defRPr>
            </a:pPr>
            <a:r>
              <a:rPr sz="1600" dirty="0">
                <a:latin typeface="Agency FB" panose="020B0503020202020204" pitchFamily="34" charset="0"/>
              </a:rPr>
              <a:t>Frameworks &amp; Libraries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• Python (Primary Core)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</a:t>
            </a:r>
            <a:r>
              <a:rPr sz="1600" dirty="0" err="1">
                <a:latin typeface="Agency FB" panose="020B0503020202020204" pitchFamily="34" charset="0"/>
              </a:rPr>
              <a:t>PyTorch</a:t>
            </a:r>
            <a:r>
              <a:rPr sz="1600" dirty="0">
                <a:latin typeface="Agency FB" panose="020B0503020202020204" pitchFamily="34" charset="0"/>
              </a:rPr>
              <a:t> (Model Architecture)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NumPy &amp; Pandas (Data Grids)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Scikit-Learn (Scalers &amp; Metrics)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474720"/>
            <a:ext cx="3749039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2874F0"/>
                </a:solidFill>
                <a:latin typeface="Trebuchet MS"/>
              </a:defRPr>
            </a:pPr>
            <a:r>
              <a:rPr sz="1600" dirty="0">
                <a:latin typeface="Agency FB" panose="020B0503020202020204" pitchFamily="34" charset="0"/>
              </a:rPr>
              <a:t>Special Features in </a:t>
            </a:r>
            <a:r>
              <a:rPr sz="1600" dirty="0" err="1">
                <a:latin typeface="Agency FB" panose="020B0503020202020204" pitchFamily="34" charset="0"/>
              </a:rPr>
              <a:t>GridLockNet</a:t>
            </a:r>
            <a:endParaRPr sz="1600" dirty="0">
              <a:latin typeface="Agency FB" panose="020B0503020202020204" pitchFamily="34" charset="0"/>
            </a:endParaRP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• Learnable Spatial Embeddings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Continuous Cyclic Projectors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GELU Regularization Skip-Blocks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INT8 Edge Quantization Viable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• Caching Rollout lag updates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474720"/>
            <a:ext cx="347472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2874F0"/>
                </a:solidFill>
                <a:latin typeface="Trebuchet MS"/>
              </a:defRPr>
            </a:pPr>
            <a:r>
              <a:rPr sz="1600" dirty="0">
                <a:latin typeface="Agency FB" panose="020B0503020202020204" pitchFamily="34" charset="0"/>
              </a:rPr>
              <a:t>Hardware &amp; Configuration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>
                <a:latin typeface="Agency FB" panose="020B0503020202020204" pitchFamily="34" charset="0"/>
              </a:rPr>
              <a:t>SYSTEM: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CPU: i7/i9 Intel or Ryzen 7/9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RAM: 16-32GB  |  512GB-1TB SSD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OS: Win 10/11 or Ubuntu 20.04 LTS+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GPU:</a:t>
            </a:r>
            <a:br>
              <a:rPr sz="1600" dirty="0">
                <a:latin typeface="Agency FB" panose="020B0503020202020204" pitchFamily="34" charset="0"/>
              </a:rPr>
            </a:br>
            <a:r>
              <a:rPr sz="1600" dirty="0">
                <a:latin typeface="Agency FB" panose="020B0503020202020204" pitchFamily="34" charset="0"/>
              </a:rPr>
              <a:t>NVIDIA GeForce RTX </a:t>
            </a:r>
            <a:r>
              <a:rPr lang="en-IN" sz="1600" dirty="0">
                <a:latin typeface="Agency FB" panose="020B0503020202020204" pitchFamily="34" charset="0"/>
              </a:rPr>
              <a:t>2</a:t>
            </a:r>
            <a:r>
              <a:rPr sz="1600" dirty="0">
                <a:latin typeface="Agency FB" panose="020B0503020202020204" pitchFamily="34" charset="0"/>
              </a:rPr>
              <a:t>0</a:t>
            </a:r>
            <a:r>
              <a:rPr lang="en-IN" sz="1600" dirty="0">
                <a:latin typeface="Agency FB" panose="020B0503020202020204" pitchFamily="34" charset="0"/>
              </a:rPr>
              <a:t>5</a:t>
            </a:r>
            <a:r>
              <a:rPr sz="1600" dirty="0">
                <a:latin typeface="Agency FB" panose="020B0503020202020204" pitchFamily="34" charset="0"/>
              </a:rPr>
              <a:t>0/</a:t>
            </a:r>
            <a:r>
              <a:rPr lang="en-IN" sz="1600" dirty="0">
                <a:latin typeface="Agency FB" panose="020B0503020202020204" pitchFamily="34" charset="0"/>
              </a:rPr>
              <a:t>30/</a:t>
            </a:r>
            <a:r>
              <a:rPr sz="1600" dirty="0">
                <a:latin typeface="Agency FB" panose="020B0503020202020204" pitchFamily="34" charset="0"/>
              </a:rPr>
              <a:t>40 Series</a:t>
            </a:r>
            <a:br>
              <a:rPr sz="1600" dirty="0">
                <a:latin typeface="Agency FB" panose="020B0503020202020204" pitchFamily="34" charset="0"/>
              </a:rPr>
            </a:br>
            <a:endParaRPr sz="1600" dirty="0">
              <a:latin typeface="Agency FB" panose="020B0503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65E7C-C3A7-6A7B-9C86-90751F4BBAF0}"/>
              </a:ext>
            </a:extLst>
          </p:cNvPr>
          <p:cNvSpPr/>
          <p:nvPr/>
        </p:nvSpPr>
        <p:spPr>
          <a:xfrm>
            <a:off x="201626" y="146536"/>
            <a:ext cx="1237183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rPr lang="en-IN" dirty="0">
                <a:solidFill>
                  <a:srgbClr val="C00000"/>
                </a:solidFill>
                <a:latin typeface="Montserrat" pitchFamily="2" charset="0"/>
                <a:ea typeface="Abode" pitchFamily="2" charset="0"/>
              </a:rPr>
              <a:t>M</a:t>
            </a:r>
            <a:r>
              <a:rPr lang="en-IN" dirty="0">
                <a:solidFill>
                  <a:srgbClr val="C00000"/>
                </a:solidFill>
                <a:latin typeface="Abode" pitchFamily="2" charset="0"/>
                <a:ea typeface="Abode" pitchFamily="2" charset="0"/>
              </a:rPr>
              <a:t>onarchs</a:t>
            </a:r>
            <a:endParaRPr dirty="0">
              <a:solidFill>
                <a:srgbClr val="C00000"/>
              </a:solidFill>
              <a:latin typeface="Abode" pitchFamily="2" charset="0"/>
              <a:ea typeface="Abode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137160"/>
            <a:ext cx="39319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gency FB" panose="020B0503020202020204" pitchFamily="34" charset="0"/>
              </a:rPr>
              <a:t>GridLock 2.0 Traffic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3363" y="91440"/>
            <a:ext cx="16209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57200"/>
                </a:solidFill>
                <a:latin typeface="Trebuchet MS"/>
              </a:defRPr>
            </a:pPr>
            <a:r>
              <a:rPr>
                <a:latin typeface="Agency FB" panose="020B0503020202020204" pitchFamily="34" charset="0"/>
              </a:rPr>
              <a:t>FLIPKART GRIDLOCK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9536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Agency FB" panose="020B0503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996696"/>
            <a:ext cx="1127455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rPr sz="1400">
                <a:latin typeface="Agency FB" panose="020B0503020202020204" pitchFamily="34" charset="0"/>
              </a:rPr>
              <a:t>FEASIBILITY &amp; VIABILITY  |  HARMS &amp; PREVENTION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45336"/>
            <a:ext cx="5394960" cy="4837176"/>
          </a:xfrm>
          <a:prstGeom prst="rect">
            <a:avLst/>
          </a:prstGeom>
          <a:solidFill>
            <a:srgbClr val="FFFFFF"/>
          </a:solidFill>
          <a:ln w="1905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874F0"/>
                </a:solidFill>
                <a:latin typeface="Trebuchet MS"/>
              </a:defRPr>
            </a:pPr>
            <a:r>
              <a:rPr dirty="0">
                <a:latin typeface="Agency FB" panose="020B0503020202020204" pitchFamily="34" charset="0"/>
              </a:rPr>
              <a:t>FEASIBILITY &amp; VIABILITY FACTORS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>
                <a:latin typeface="Agency FB" panose="020B0503020202020204" pitchFamily="34" charset="0"/>
              </a:rPr>
              <a:t>1. Technical Feasibility: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Dynamic lag calculation rollout: 9/10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</a:t>
            </a:r>
            <a:r>
              <a:rPr sz="2000" dirty="0" err="1">
                <a:latin typeface="Agency FB" panose="020B0503020202020204" pitchFamily="34" charset="0"/>
              </a:rPr>
              <a:t>PyTorch</a:t>
            </a:r>
            <a:r>
              <a:rPr sz="2000" dirty="0">
                <a:latin typeface="Agency FB" panose="020B0503020202020204" pitchFamily="34" charset="0"/>
              </a:rPr>
              <a:t> </a:t>
            </a:r>
            <a:r>
              <a:rPr sz="2000" dirty="0" err="1">
                <a:latin typeface="Agency FB" panose="020B0503020202020204" pitchFamily="34" charset="0"/>
              </a:rPr>
              <a:t>deepcopy</a:t>
            </a:r>
            <a:r>
              <a:rPr sz="2000" dirty="0">
                <a:latin typeface="Agency FB" panose="020B0503020202020204" pitchFamily="34" charset="0"/>
              </a:rPr>
              <a:t> weights lock: 10/10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Edge compiled quantization: 8/10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2. Resource Feasibility: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Computational demands: 9/10 (Under 12ms per step rollout)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Storage requirements: 9/10 (Sub-megabyte weights model)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3. Viability Performance: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Our multi-branch model operates continuously in production-grade municipal control grids.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4. Viability Accuracy: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0.9 Dampening controls prediction noise, perfectly matching real traffic commute distributions.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45336"/>
            <a:ext cx="5486400" cy="4837176"/>
          </a:xfrm>
          <a:prstGeom prst="rect">
            <a:avLst/>
          </a:prstGeom>
          <a:solidFill>
            <a:srgbClr val="FFFFFF"/>
          </a:solidFill>
          <a:ln w="19050">
            <a:solidFill>
              <a:srgbClr val="F5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7200"/>
                </a:solidFill>
                <a:latin typeface="Trebuchet MS"/>
              </a:defRPr>
            </a:pPr>
            <a:r>
              <a:rPr dirty="0">
                <a:latin typeface="Agency FB" panose="020B0503020202020204" pitchFamily="34" charset="0"/>
              </a:rPr>
              <a:t>CONGESTION COLLAPSE RISKS &amp; MITIGATION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>
                <a:latin typeface="Agency FB" panose="020B0503020202020204" pitchFamily="34" charset="0"/>
              </a:rPr>
              <a:t>Potential Risks &amp; Harms: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Economic Harm: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Courier/logistics delay, supply chain degradation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Environmental Harm: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Elevated tailpipe idling emissions and carbon waste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Societal Harm: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Emergency response vehicle blocks, excessive commuter stress</a:t>
            </a:r>
            <a:br>
              <a:rPr sz="2000" dirty="0">
                <a:latin typeface="Agency FB" panose="020B0503020202020204" pitchFamily="34" charset="0"/>
              </a:rPr>
            </a:b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Congestion Prevention Best Practices: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✔ Use dynamic forecasting engines (</a:t>
            </a:r>
            <a:r>
              <a:rPr sz="2000" dirty="0" err="1">
                <a:latin typeface="Agency FB" panose="020B0503020202020204" pitchFamily="34" charset="0"/>
              </a:rPr>
              <a:t>NeuralRoute</a:t>
            </a:r>
            <a:r>
              <a:rPr sz="2000" dirty="0">
                <a:latin typeface="Agency FB" panose="020B0503020202020204" pitchFamily="34" charset="0"/>
              </a:rPr>
              <a:t>)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✔ Enforce adaptive signal grids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✔ Deploy route-balanced AV grid scheduling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13B264-9245-733C-E45A-CAC58A245F41}"/>
              </a:ext>
            </a:extLst>
          </p:cNvPr>
          <p:cNvSpPr/>
          <p:nvPr/>
        </p:nvSpPr>
        <p:spPr>
          <a:xfrm>
            <a:off x="201626" y="146536"/>
            <a:ext cx="1237183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rPr lang="en-IN" dirty="0">
                <a:solidFill>
                  <a:srgbClr val="C00000"/>
                </a:solidFill>
                <a:latin typeface="Montserrat" pitchFamily="2" charset="0"/>
                <a:ea typeface="Abode" pitchFamily="2" charset="0"/>
              </a:rPr>
              <a:t>M</a:t>
            </a:r>
            <a:r>
              <a:rPr lang="en-IN" dirty="0">
                <a:solidFill>
                  <a:srgbClr val="C00000"/>
                </a:solidFill>
                <a:latin typeface="Abode" pitchFamily="2" charset="0"/>
                <a:ea typeface="Abode" pitchFamily="2" charset="0"/>
              </a:rPr>
              <a:t>onarchs</a:t>
            </a:r>
            <a:endParaRPr dirty="0">
              <a:solidFill>
                <a:srgbClr val="C00000"/>
              </a:solidFill>
              <a:latin typeface="Abode" pitchFamily="2" charset="0"/>
              <a:ea typeface="Abode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137160"/>
            <a:ext cx="39319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2000">
                <a:latin typeface="Agency FB" panose="020B0503020202020204" pitchFamily="34" charset="0"/>
              </a:rPr>
              <a:t>GridLock 2.0 Traffic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7810" y="91440"/>
            <a:ext cx="22365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57200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FLIPKART GRIDLOCK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gency FB" panose="020B0503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455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POTENTIAL IMPACT ON TARGET AUDIENCE &amp; SMART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94960" cy="5148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87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874F0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OVERALL BENEFITS &amp; TARGET IMPACT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>
                <a:latin typeface="Agency FB" panose="020B0503020202020204" pitchFamily="34" charset="0"/>
              </a:rPr>
              <a:t>Positive Target Impacts: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Municipalities: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- Adaptive smart city grid setups, reducing city blockages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Logistics Fleets (Flipkart/AVs):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- Coordinated route schedules, preventing courier delays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Daily Commuters: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- Seamless transit, restored schedule trust, and lower fuel waste</a:t>
            </a:r>
            <a:br>
              <a:rPr sz="2000">
                <a:latin typeface="Agency FB" panose="020B0503020202020204" pitchFamily="34" charset="0"/>
              </a:rPr>
            </a:b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Negative Impacts (Mitigated):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Edge Hardware Requirements: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- Overcome via FP16 quantization to enable edge compiles.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Signal Grid Dependency: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- Decoupled predictions to operate stand-alone during server downtime.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51480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7200"/>
                </a:solidFill>
                <a:latin typeface="Trebuchet MS"/>
              </a:defRPr>
            </a:pPr>
            <a:r>
              <a:rPr sz="2000" dirty="0">
                <a:latin typeface="Agency FB" panose="020B0503020202020204" pitchFamily="34" charset="0"/>
              </a:rPr>
              <a:t>DYNAMIC TRANSIT SCHEDULING INFOGRAPHIC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rPr sz="2000" dirty="0">
                <a:latin typeface="Agency FB" panose="020B0503020202020204" pitchFamily="34" charset="0"/>
              </a:rPr>
              <a:t>How to Recognize &amp; Mitigate Congestion: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Inconsistent Signal Scheduling: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Align light duration patterns using dynamic inflow rollouts.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Uncoordinated routing: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Deploy Route Balancing algorithm to coordinate smart AV fleets.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Multi-Step Exposure Bias: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Suppress compounding noise via mathematically dampened autoregressive forecasts.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• Transit Bottlenecks:</a:t>
            </a:r>
            <a:br>
              <a:rPr sz="2000" dirty="0">
                <a:latin typeface="Agency FB" panose="020B0503020202020204" pitchFamily="34" charset="0"/>
              </a:rPr>
            </a:br>
            <a:r>
              <a:rPr sz="2000" dirty="0">
                <a:latin typeface="Agency FB" panose="020B0503020202020204" pitchFamily="34" charset="0"/>
              </a:rPr>
              <a:t>  - Enable real-time prediction indicators for daily city command monitoring.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B45FB-6E07-3CA2-9670-0133A6F09E48}"/>
              </a:ext>
            </a:extLst>
          </p:cNvPr>
          <p:cNvSpPr/>
          <p:nvPr/>
        </p:nvSpPr>
        <p:spPr>
          <a:xfrm>
            <a:off x="201626" y="146536"/>
            <a:ext cx="1237183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rPr lang="en-IN" dirty="0">
                <a:solidFill>
                  <a:srgbClr val="C00000"/>
                </a:solidFill>
                <a:latin typeface="Montserrat" pitchFamily="2" charset="0"/>
                <a:ea typeface="Abode" pitchFamily="2" charset="0"/>
              </a:rPr>
              <a:t>M</a:t>
            </a:r>
            <a:r>
              <a:rPr lang="en-IN" dirty="0">
                <a:solidFill>
                  <a:srgbClr val="C00000"/>
                </a:solidFill>
                <a:latin typeface="Abode" pitchFamily="2" charset="0"/>
                <a:ea typeface="Abode" pitchFamily="2" charset="0"/>
              </a:rPr>
              <a:t>onarchs</a:t>
            </a:r>
            <a:endParaRPr dirty="0">
              <a:solidFill>
                <a:srgbClr val="C00000"/>
              </a:solidFill>
              <a:latin typeface="Abode" pitchFamily="2" charset="0"/>
              <a:ea typeface="Abode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gency FB" panose="020B05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137160"/>
            <a:ext cx="39319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2000">
                <a:latin typeface="Agency FB" panose="020B0503020202020204" pitchFamily="34" charset="0"/>
              </a:rPr>
              <a:t>GridLock 2.0 Traffic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7809" y="91440"/>
            <a:ext cx="223651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57200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FLIPKART GRIDLOCK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gency FB" panose="020B0503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455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RESEARCH &amp; REFERENCE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394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874F0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Scientific Research &amp; Frameworks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rPr sz="2000">
                <a:latin typeface="Agency FB" panose="020B0503020202020204" pitchFamily="34" charset="0"/>
              </a:rPr>
              <a:t>1. Exposure Bias Mitigation: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'Addressing Exposure Bias in Autoregressive Time-Series' - arxiv.org/abs/1906.02753</a:t>
            </a:r>
            <a:br>
              <a:rPr sz="2000">
                <a:latin typeface="Agency FB" panose="020B0503020202020204" pitchFamily="34" charset="0"/>
              </a:rPr>
            </a:b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2. Tabular Deep Architectures: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'Deep Tabular ResNets for Non-Linear Feature Interaction'</a:t>
            </a:r>
            <a:br>
              <a:rPr sz="2000">
                <a:latin typeface="Agency FB" panose="020B0503020202020204" pitchFamily="34" charset="0"/>
              </a:rPr>
            </a:b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3. Geohash Spatial Mapping: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Geohash Spatial Index Libraries - github.com/vinsci/geohash</a:t>
            </a:r>
            <a:br>
              <a:rPr sz="2000">
                <a:latin typeface="Agency FB" panose="020B0503020202020204" pitchFamily="34" charset="0"/>
              </a:rPr>
            </a:b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4. Scikit-Learn Scaling &amp; Preprocessing: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https://scikit-learn.org/stable/modules/preprocessing.html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F57200"/>
                </a:solidFill>
                <a:latin typeface="Trebuchet MS"/>
              </a:defRPr>
            </a:pPr>
            <a:r>
              <a:rPr sz="2000">
                <a:latin typeface="Agency FB" panose="020B0503020202020204" pitchFamily="34" charset="0"/>
              </a:rPr>
              <a:t>DEVELOPMENT REFERENCES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sz="2000">
                <a:latin typeface="Agency FB" panose="020B0503020202020204" pitchFamily="34" charset="0"/>
              </a:rPr>
              <a:t>• PyTorch Core Neural Network API: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https://pytorch.org/docs/stable/nn.html</a:t>
            </a:r>
            <a:br>
              <a:rPr sz="2000">
                <a:latin typeface="Agency FB" panose="020B0503020202020204" pitchFamily="34" charset="0"/>
              </a:rPr>
            </a:b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Grab AI for SEA Competition Dataset: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https://github.com/grab/sea-traffic-management</a:t>
            </a:r>
            <a:br>
              <a:rPr sz="2000">
                <a:latin typeface="Agency FB" panose="020B0503020202020204" pitchFamily="34" charset="0"/>
              </a:rPr>
            </a:b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• Autoregressive Dampening Model Paper:</a:t>
            </a:r>
            <a:br>
              <a:rPr sz="2000">
                <a:latin typeface="Agency FB" panose="020B0503020202020204" pitchFamily="34" charset="0"/>
              </a:rPr>
            </a:br>
            <a:r>
              <a:rPr sz="2000">
                <a:latin typeface="Agency FB" panose="020B0503020202020204" pitchFamily="34" charset="0"/>
              </a:rPr>
              <a:t>  https://arxiv.org/abs/1906.02753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3E853-EFAC-6253-F535-C4ABB1FE0943}"/>
              </a:ext>
            </a:extLst>
          </p:cNvPr>
          <p:cNvSpPr/>
          <p:nvPr/>
        </p:nvSpPr>
        <p:spPr>
          <a:xfrm>
            <a:off x="201626" y="146536"/>
            <a:ext cx="1237183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rPr lang="en-IN" dirty="0">
                <a:solidFill>
                  <a:srgbClr val="C00000"/>
                </a:solidFill>
                <a:latin typeface="Montserrat" pitchFamily="2" charset="0"/>
                <a:ea typeface="Abode" pitchFamily="2" charset="0"/>
              </a:rPr>
              <a:t>M</a:t>
            </a:r>
            <a:r>
              <a:rPr lang="en-IN" dirty="0">
                <a:solidFill>
                  <a:srgbClr val="C00000"/>
                </a:solidFill>
                <a:latin typeface="Abode" pitchFamily="2" charset="0"/>
                <a:ea typeface="Abode" pitchFamily="2" charset="0"/>
              </a:rPr>
              <a:t>onarchs</a:t>
            </a:r>
            <a:endParaRPr dirty="0">
              <a:solidFill>
                <a:srgbClr val="C00000"/>
              </a:solidFill>
              <a:latin typeface="Abode" pitchFamily="2" charset="0"/>
              <a:ea typeface="Abode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1048</Words>
  <Application>Microsoft Office PowerPoint</Application>
  <PresentationFormat>Widescreen</PresentationFormat>
  <Paragraphs>80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Abode</vt:lpstr>
      <vt:lpstr>Agency FB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Rohith</cp:lastModifiedBy>
  <cp:revision>2</cp:revision>
  <dcterms:created xsi:type="dcterms:W3CDTF">2013-01-27T09:14:16Z</dcterms:created>
  <dcterms:modified xsi:type="dcterms:W3CDTF">2026-05-31T10:05:20Z</dcterms:modified>
  <cp:category/>
</cp:coreProperties>
</file>